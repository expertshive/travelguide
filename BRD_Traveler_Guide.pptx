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572000" cy="4572000"/>
          </a:xfrm>
          <a:prstGeom prst="ellipse">
            <a:avLst/>
          </a:prstGeom>
          <a:solidFill>
            <a:srgbClr val="1B7A43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023360"/>
            <a:ext cx="3108960" cy="3108960"/>
          </a:xfrm>
          <a:prstGeom prst="ellipse">
            <a:avLst/>
          </a:prstGeom>
          <a:solidFill>
            <a:srgbClr val="F26A2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F26A2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DOCUMENT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Traveler Guide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travel companion that turns any trip into a journey — suggesting places to explore along your route, always with the traveler in control.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1569110" cy="420624"/>
          </a:xfrm>
          <a:prstGeom prst="roundRect">
            <a:avLst>
              <a:gd name="adj" fmla="val 17391"/>
            </a:avLst>
          </a:prstGeom>
          <a:solidFill>
            <a:srgbClr val="1B7A4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892040"/>
            <a:ext cx="15691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56662" y="4892040"/>
            <a:ext cx="1075334" cy="420624"/>
          </a:xfrm>
          <a:prstGeom prst="roundRect">
            <a:avLst>
              <a:gd name="adj" fmla="val 17391"/>
            </a:avLst>
          </a:prstGeom>
          <a:solidFill>
            <a:srgbClr val="1B7A43"/>
          </a:solidFill>
          <a:ln/>
        </p:spPr>
      </p:sp>
      <p:sp>
        <p:nvSpPr>
          <p:cNvPr id="11" name="Text 9"/>
          <p:cNvSpPr/>
          <p:nvPr/>
        </p:nvSpPr>
        <p:spPr>
          <a:xfrm>
            <a:off x="2556662" y="4892040"/>
            <a:ext cx="10753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96589" y="4892040"/>
            <a:ext cx="2359152" cy="420624"/>
          </a:xfrm>
          <a:prstGeom prst="roundRect">
            <a:avLst>
              <a:gd name="adj" fmla="val 17391"/>
            </a:avLst>
          </a:prstGeom>
          <a:solidFill>
            <a:srgbClr val="1B7A43"/>
          </a:solidFill>
          <a:ln/>
        </p:spPr>
      </p:sp>
      <p:sp>
        <p:nvSpPr>
          <p:cNvPr id="13" name="Text 11"/>
          <p:cNvSpPr/>
          <p:nvPr/>
        </p:nvSpPr>
        <p:spPr>
          <a:xfrm>
            <a:off x="3796589" y="489204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Microservices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20333" y="4892040"/>
            <a:ext cx="1667866" cy="420624"/>
          </a:xfrm>
          <a:prstGeom prst="roundRect">
            <a:avLst>
              <a:gd name="adj" fmla="val 17391"/>
            </a:avLst>
          </a:prstGeom>
          <a:solidFill>
            <a:srgbClr val="1B7A43"/>
          </a:solidFill>
          <a:ln/>
        </p:spPr>
      </p:sp>
      <p:sp>
        <p:nvSpPr>
          <p:cNvPr id="15" name="Text 13"/>
          <p:cNvSpPr/>
          <p:nvPr/>
        </p:nvSpPr>
        <p:spPr>
          <a:xfrm>
            <a:off x="6320333" y="4892040"/>
            <a:ext cx="16678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Spatial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52790" y="4892040"/>
            <a:ext cx="976579" cy="420624"/>
          </a:xfrm>
          <a:prstGeom prst="roundRect">
            <a:avLst>
              <a:gd name="adj" fmla="val 17391"/>
            </a:avLst>
          </a:prstGeom>
          <a:solidFill>
            <a:srgbClr val="1B7A43"/>
          </a:solidFill>
          <a:ln/>
        </p:spPr>
      </p:sp>
      <p:sp>
        <p:nvSpPr>
          <p:cNvPr id="17" name="Text 15"/>
          <p:cNvSpPr/>
          <p:nvPr/>
        </p:nvSpPr>
        <p:spPr>
          <a:xfrm>
            <a:off x="8152790" y="4892040"/>
            <a:ext cx="9765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93962" y="4892040"/>
            <a:ext cx="1174090" cy="420624"/>
          </a:xfrm>
          <a:prstGeom prst="roundRect">
            <a:avLst>
              <a:gd name="adj" fmla="val 17391"/>
            </a:avLst>
          </a:prstGeom>
          <a:solidFill>
            <a:srgbClr val="1B7A43"/>
          </a:solidFill>
          <a:ln/>
        </p:spPr>
      </p:sp>
      <p:sp>
        <p:nvSpPr>
          <p:cNvPr id="19" name="Text 17"/>
          <p:cNvSpPr/>
          <p:nvPr/>
        </p:nvSpPr>
        <p:spPr>
          <a:xfrm>
            <a:off x="9293962" y="4892040"/>
            <a:ext cx="11740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715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Draft for review  ·  08 Aug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&amp;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3776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&amp; Objectives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21208" y="1371600"/>
            <a:ext cx="1828800" cy="0"/>
          </a:xfrm>
          <a:prstGeom prst="line">
            <a:avLst/>
          </a:prstGeom>
          <a:noFill/>
          <a:ln w="31750">
            <a:solidFill>
              <a:srgbClr val="F26A2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892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 Guide is a mobile app that turns an ordinary drive from A to B into a personalized journey. It suggests places to explore along the way — matched to the traveler's interests — and never changes the route or adds a stop without the traveler's confirmation.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03720" y="2231136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every trip using profile interests plus trip-specific interests.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3127248"/>
            <a:ext cx="420624" cy="420624"/>
          </a:xfrm>
          <a:prstGeom prst="ellipse">
            <a:avLst/>
          </a:prstGeom>
          <a:solidFill>
            <a:srgbClr val="F26A21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03720" y="3072384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relevant stops — history, food, nature, fuel, prayer, rest — along the route.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3968496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391363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traveler in control: no route change or stop without confirmation.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09360" y="4809744"/>
            <a:ext cx="420624" cy="420624"/>
          </a:xfrm>
          <a:prstGeom prst="ellipse">
            <a:avLst/>
          </a:prstGeom>
          <a:solidFill>
            <a:srgbClr val="F26A21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809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47548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hands-free AI voice assistant for safe use while driving.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09360" y="5650992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5650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559612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reliably and scale on a microservices backend.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3776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21208" y="1371600"/>
            <a:ext cx="1828800" cy="0"/>
          </a:xfrm>
          <a:prstGeom prst="line">
            <a:avLst/>
          </a:prstGeom>
          <a:noFill/>
          <a:ln w="31750">
            <a:solidFill>
              <a:srgbClr val="F26A2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5532120" cy="4480560"/>
          </a:xfrm>
          <a:prstGeom prst="roundRect">
            <a:avLst>
              <a:gd name="adj" fmla="val 204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532120" cy="685800"/>
          </a:xfrm>
          <a:prstGeom prst="roundRect">
            <a:avLst>
              <a:gd name="adj" fmla="val 13333"/>
            </a:avLst>
          </a:prstGeom>
          <a:solidFill>
            <a:srgbClr val="1B7A4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148840"/>
            <a:ext cx="5532120" cy="228600"/>
          </a:xfrm>
          <a:prstGeom prst="rect">
            <a:avLst/>
          </a:prstGeom>
          <a:solidFill>
            <a:srgbClr val="1B7A4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916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825496"/>
            <a:ext cx="146304" cy="146304"/>
          </a:xfrm>
          <a:prstGeom prst="ellipse">
            <a:avLst/>
          </a:prstGeom>
          <a:solidFill>
            <a:srgbClr val="1B7A43"/>
          </a:solidFill>
          <a:ln/>
        </p:spPr>
      </p:sp>
      <p:sp>
        <p:nvSpPr>
          <p:cNvPr id="10" name="Text 8"/>
          <p:cNvSpPr/>
          <p:nvPr/>
        </p:nvSpPr>
        <p:spPr>
          <a:xfrm>
            <a:off x="1133856" y="2706624"/>
            <a:ext cx="4626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app (React Native CLI), plus public website &amp; admin portal (Next.js).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483864"/>
            <a:ext cx="146304" cy="146304"/>
          </a:xfrm>
          <a:prstGeom prst="ellipse">
            <a:avLst/>
          </a:prstGeom>
          <a:solidFill>
            <a:srgbClr val="1B7A43"/>
          </a:solidFill>
          <a:ln/>
        </p:spPr>
      </p:sp>
      <p:sp>
        <p:nvSpPr>
          <p:cNvPr id="12" name="Text 10"/>
          <p:cNvSpPr/>
          <p:nvPr/>
        </p:nvSpPr>
        <p:spPr>
          <a:xfrm>
            <a:off x="1133856" y="3364992"/>
            <a:ext cx="4626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profile interests; trip-specific interests &amp; preferences.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142232"/>
            <a:ext cx="146304" cy="146304"/>
          </a:xfrm>
          <a:prstGeom prst="ellipse">
            <a:avLst/>
          </a:prstGeom>
          <a:solidFill>
            <a:srgbClr val="1B7A43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856" y="4023360"/>
            <a:ext cx="4626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routes with recommended stops along the way.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146304" cy="146304"/>
          </a:xfrm>
          <a:prstGeom prst="ellipse">
            <a:avLst/>
          </a:prstGeom>
          <a:solidFill>
            <a:srgbClr val="1B7A43"/>
          </a:solidFill>
          <a:ln/>
        </p:spPr>
      </p:sp>
      <p:sp>
        <p:nvSpPr>
          <p:cNvPr id="16" name="Text 14"/>
          <p:cNvSpPr/>
          <p:nvPr/>
        </p:nvSpPr>
        <p:spPr>
          <a:xfrm>
            <a:off x="1133856" y="4681728"/>
            <a:ext cx="4626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assistant, social posts, friends, chat, reviews and trips.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5458968"/>
            <a:ext cx="146304" cy="146304"/>
          </a:xfrm>
          <a:prstGeom prst="ellipse">
            <a:avLst/>
          </a:prstGeom>
          <a:solidFill>
            <a:srgbClr val="1B7A43"/>
          </a:solidFill>
          <a:ln/>
        </p:spPr>
      </p:sp>
      <p:sp>
        <p:nvSpPr>
          <p:cNvPr id="18" name="Text 16"/>
          <p:cNvSpPr/>
          <p:nvPr/>
        </p:nvSpPr>
        <p:spPr>
          <a:xfrm>
            <a:off x="1133856" y="5340096"/>
            <a:ext cx="4626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Businesses, subscriptions &amp; payments; admin &amp; moderation.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349240" cy="685800"/>
          </a:xfrm>
          <a:prstGeom prst="roundRect">
            <a:avLst>
              <a:gd name="adj" fmla="val 13333"/>
            </a:avLst>
          </a:prstGeom>
          <a:solidFill>
            <a:srgbClr val="5C6B62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2148840"/>
            <a:ext cx="5349240" cy="228600"/>
          </a:xfrm>
          <a:prstGeom prst="rect">
            <a:avLst/>
          </a:prstGeom>
          <a:solidFill>
            <a:srgbClr val="5C6B62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6916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  (initial phase)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629400" y="2825496"/>
            <a:ext cx="146304" cy="146304"/>
          </a:xfrm>
          <a:prstGeom prst="ellipse">
            <a:avLst/>
          </a:prstGeom>
          <a:solidFill>
            <a:srgbClr val="5C6B62"/>
          </a:solidFill>
          <a:ln/>
        </p:spPr>
      </p:sp>
      <p:sp>
        <p:nvSpPr>
          <p:cNvPr id="24" name="Text 22"/>
          <p:cNvSpPr/>
          <p:nvPr/>
        </p:nvSpPr>
        <p:spPr>
          <a:xfrm>
            <a:off x="6940296" y="2706624"/>
            <a:ext cx="4443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providers beyond Mapbox (Google / OSM added later).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3538728"/>
            <a:ext cx="146304" cy="146304"/>
          </a:xfrm>
          <a:prstGeom prst="ellipse">
            <a:avLst/>
          </a:prstGeom>
          <a:solidFill>
            <a:srgbClr val="5C6B62"/>
          </a:solidFill>
          <a:ln/>
        </p:spPr>
      </p:sp>
      <p:sp>
        <p:nvSpPr>
          <p:cNvPr id="26" name="Text 24"/>
          <p:cNvSpPr/>
          <p:nvPr/>
        </p:nvSpPr>
        <p:spPr>
          <a:xfrm>
            <a:off x="6940296" y="3419856"/>
            <a:ext cx="4443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/ OpenSearch (architecture ready, MySQL search first).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29400" y="4251960"/>
            <a:ext cx="146304" cy="146304"/>
          </a:xfrm>
          <a:prstGeom prst="ellipse">
            <a:avLst/>
          </a:prstGeom>
          <a:solidFill>
            <a:srgbClr val="5C6B62"/>
          </a:solidFill>
          <a:ln/>
        </p:spPr>
      </p:sp>
      <p:sp>
        <p:nvSpPr>
          <p:cNvPr id="28" name="Text 26"/>
          <p:cNvSpPr/>
          <p:nvPr/>
        </p:nvSpPr>
        <p:spPr>
          <a:xfrm>
            <a:off x="6940296" y="4133088"/>
            <a:ext cx="4443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 beyond Apple Pay, Google Pay &amp; the Saudi gateway.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29400" y="4965192"/>
            <a:ext cx="146304" cy="146304"/>
          </a:xfrm>
          <a:prstGeom prst="ellipse">
            <a:avLst/>
          </a:prstGeom>
          <a:solidFill>
            <a:srgbClr val="5C6B62"/>
          </a:solidFill>
          <a:ln/>
        </p:spPr>
      </p:sp>
      <p:sp>
        <p:nvSpPr>
          <p:cNvPr id="30" name="Text 28"/>
          <p:cNvSpPr/>
          <p:nvPr/>
        </p:nvSpPr>
        <p:spPr>
          <a:xfrm>
            <a:off x="6940296" y="4846320"/>
            <a:ext cx="4443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maps and fully offline trip mode.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3776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 &amp; User Roles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21208" y="1371600"/>
            <a:ext cx="1828800" cy="0"/>
          </a:xfrm>
          <a:prstGeom prst="line">
            <a:avLst/>
          </a:prstGeom>
          <a:noFill/>
          <a:ln w="31750">
            <a:solidFill>
              <a:srgbClr val="F26A2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731520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3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Plans and takes trips, sets interests, gets recommendations, posts and reviews.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/ mobile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Manages a business listing and promotions; views business analytics.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portal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and moderates places, posts, reviews and reported content.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portal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Manages users, businesses, content, interests and platform settings.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portal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 — all data, roles, recommendation weights and reports.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3776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Route — Process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21208" y="1371600"/>
            <a:ext cx="1828800" cy="0"/>
          </a:xfrm>
          <a:prstGeom prst="line">
            <a:avLst/>
          </a:prstGeom>
          <a:noFill/>
          <a:ln w="31750">
            <a:solidFill>
              <a:srgbClr val="F26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trip goes from a start and destination to a personalized route. The route only changes after the traveler confirms — and the same applies when interests change mid-trip.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02920" y="374904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rule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route change and no added stop happens without the traveler's confirmation — including AI voice actions.</a:t>
            </a:r>
            <a:endParaRPr lang="en-US" sz="1300" dirty="0"/>
          </a:p>
        </p:txBody>
      </p:sp>
      <p:pic>
        <p:nvPicPr>
          <p:cNvPr id="7" name="Image 0" descr="tg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457200"/>
            <a:ext cx="4041648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3776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21208" y="1371600"/>
            <a:ext cx="1828800" cy="0"/>
          </a:xfrm>
          <a:prstGeom prst="line">
            <a:avLst/>
          </a:prstGeom>
          <a:noFill/>
          <a:ln w="31750">
            <a:solidFill>
              <a:srgbClr val="F26A2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112471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195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&amp; log in with JWT access and refresh tokens; role and permission based access.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Onboarding: select profile travel interests — skippable and editable later.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profile interests: add, remove, enable/disable, set priority, reset.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default travel preferences: route style, extra time, deviation, group, auto-stops.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trip by entering a start, destination and travel mode.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 interests preselected from profile and editable per trip (override profile).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 route alternatives via Mapbox with traffic-aware duration.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candidate places along the route using MySQL spatial queries.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places with the recommendation engine (interests, rating, deviation, more).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recommendations and accept or reject stops.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Recalculate the route only after the traveler confirms a stop or route change.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interests during an active trip and refresh recommendations.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voice assistant prepares changes but always asks for confirmation.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Social, chat, reviews, businesses, subscriptions &amp; payments; admin &amp; moderation.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3776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Interests &amp; Recommendations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21208" y="1371600"/>
            <a:ext cx="1828800" cy="0"/>
          </a:xfrm>
          <a:prstGeom prst="line">
            <a:avLst/>
          </a:prstGeom>
          <a:noFill/>
          <a:ln w="31750">
            <a:solidFill>
              <a:srgbClr val="F26A2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47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Profile Interests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at onboarding (History, Food, Nature, Adventure…). Saved as defaults. Can be skipped, edited, prioritized or reset any 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47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Trip Interests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286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before every route: “What would you like to explore on this trip?” Preselected from the profile, but editable — and they OVERRIDE profile interests.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977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score — what ranks a place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44348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points: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&amp; profile interest match · priority · route style · rating · popularity · open now · weather · group &amp; budget fit · saved places.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52120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Subtracts points: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deviation · extra travel time · previously rejected · already visited.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places may get a small, limited boost, must still match interests, and are clearly marked.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3776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21208" y="1371600"/>
            <a:ext cx="1828800" cy="0"/>
          </a:xfrm>
          <a:prstGeom prst="line">
            <a:avLst/>
          </a:prstGeom>
          <a:noFill/>
          <a:ln w="31750">
            <a:solidFill>
              <a:srgbClr val="F26A21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475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897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Privacy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auth, role &amp; permission access, per-service MySQL accounts, location retention limits.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NestJS microservices; each service owns its own MySQL database; no cross-database access.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via the API Gateway; RabbitMQ RPC (sync) and events (async).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WebSockets for chat, notifications, live trips, location and AI streaming.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caching, MySQL spatial indexes, provider &amp; recommendation caching, pagination.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8.4 spatial types &amp; indexes; Prisma ORM; Turf.js for route geometry.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 strict mode; unit, integration &amp; end-to-end tests; builds must pass.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&amp; Docker Compose; pnpm workspaces &amp; Turborepo.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3776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 Architecture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21208" y="1371600"/>
            <a:ext cx="1828800" cy="0"/>
          </a:xfrm>
          <a:prstGeom prst="line">
            <a:avLst/>
          </a:prstGeom>
          <a:noFill/>
          <a:ln w="31750">
            <a:solidFill>
              <a:srgbClr val="F26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independent services, each owning its own MySQL database and communicating through the API Gateway and RabbitMQ.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2423160"/>
            <a:ext cx="292608" cy="292608"/>
          </a:xfrm>
          <a:prstGeom prst="ellipse">
            <a:avLst/>
          </a:prstGeom>
          <a:solidFill>
            <a:srgbClr val="1B7A43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22402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82696" y="224028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2423160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1" name="Text 9"/>
          <p:cNvSpPr/>
          <p:nvPr/>
        </p:nvSpPr>
        <p:spPr>
          <a:xfrm>
            <a:off x="3849624" y="22402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62472" y="224028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27064" y="2423160"/>
            <a:ext cx="292608" cy="292608"/>
          </a:xfrm>
          <a:prstGeom prst="ellipse">
            <a:avLst/>
          </a:prstGeom>
          <a:solidFill>
            <a:srgbClr val="F26A21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2402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42248" y="224028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06840" y="2423160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5"/>
          <p:cNvSpPr/>
          <p:nvPr/>
        </p:nvSpPr>
        <p:spPr>
          <a:xfrm>
            <a:off x="9409176" y="22402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044952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" y="3227832"/>
            <a:ext cx="292608" cy="292608"/>
          </a:xfrm>
          <a:prstGeom prst="ellipse">
            <a:avLst/>
          </a:prstGeom>
          <a:solidFill>
            <a:srgbClr val="1B7A43"/>
          </a:solidFill>
          <a:ln/>
        </p:spPr>
      </p:sp>
      <p:sp>
        <p:nvSpPr>
          <p:cNvPr id="20" name="Text 18"/>
          <p:cNvSpPr/>
          <p:nvPr/>
        </p:nvSpPr>
        <p:spPr>
          <a:xfrm>
            <a:off x="1069848" y="304495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82696" y="3044952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47288" y="3227832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3" name="Text 21"/>
          <p:cNvSpPr/>
          <p:nvPr/>
        </p:nvSpPr>
        <p:spPr>
          <a:xfrm>
            <a:off x="3849624" y="304495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62472" y="3044952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7064" y="3227832"/>
            <a:ext cx="292608" cy="292608"/>
          </a:xfrm>
          <a:prstGeom prst="ellipse">
            <a:avLst/>
          </a:prstGeom>
          <a:solidFill>
            <a:srgbClr val="F26A21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304495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842248" y="3044952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0" y="3227832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9" name="Text 27"/>
          <p:cNvSpPr/>
          <p:nvPr/>
        </p:nvSpPr>
        <p:spPr>
          <a:xfrm>
            <a:off x="9409176" y="304495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" y="384962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" y="4032504"/>
            <a:ext cx="292608" cy="292608"/>
          </a:xfrm>
          <a:prstGeom prst="ellipse">
            <a:avLst/>
          </a:prstGeom>
          <a:solidFill>
            <a:srgbClr val="1B7A43"/>
          </a:solidFill>
          <a:ln/>
        </p:spPr>
      </p:sp>
      <p:sp>
        <p:nvSpPr>
          <p:cNvPr id="32" name="Text 30"/>
          <p:cNvSpPr/>
          <p:nvPr/>
        </p:nvSpPr>
        <p:spPr>
          <a:xfrm>
            <a:off x="1069848" y="384962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282696" y="384962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47288" y="403250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5" name="Text 33"/>
          <p:cNvSpPr/>
          <p:nvPr/>
        </p:nvSpPr>
        <p:spPr>
          <a:xfrm>
            <a:off x="3849624" y="384962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062472" y="384962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7064" y="4032504"/>
            <a:ext cx="292608" cy="292608"/>
          </a:xfrm>
          <a:prstGeom prst="ellipse">
            <a:avLst/>
          </a:prstGeom>
          <a:solidFill>
            <a:srgbClr val="F26A21"/>
          </a:solidFill>
          <a:ln/>
        </p:spPr>
      </p:sp>
      <p:sp>
        <p:nvSpPr>
          <p:cNvPr id="38" name="Text 36"/>
          <p:cNvSpPr/>
          <p:nvPr/>
        </p:nvSpPr>
        <p:spPr>
          <a:xfrm>
            <a:off x="6629400" y="384962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842248" y="384962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06840" y="403250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41" name="Text 39"/>
          <p:cNvSpPr/>
          <p:nvPr/>
        </p:nvSpPr>
        <p:spPr>
          <a:xfrm>
            <a:off x="9409176" y="384962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02920" y="4654296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7512" y="4837176"/>
            <a:ext cx="292608" cy="292608"/>
          </a:xfrm>
          <a:prstGeom prst="ellipse">
            <a:avLst/>
          </a:prstGeom>
          <a:solidFill>
            <a:srgbClr val="1B7A43"/>
          </a:solidFill>
          <a:ln/>
        </p:spPr>
      </p:sp>
      <p:sp>
        <p:nvSpPr>
          <p:cNvPr id="44" name="Text 42"/>
          <p:cNvSpPr/>
          <p:nvPr/>
        </p:nvSpPr>
        <p:spPr>
          <a:xfrm>
            <a:off x="1069848" y="4654296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3282696" y="4654296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47288" y="4837176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47" name="Text 45"/>
          <p:cNvSpPr/>
          <p:nvPr/>
        </p:nvSpPr>
        <p:spPr>
          <a:xfrm>
            <a:off x="3849624" y="4654296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062472" y="4654296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27064" y="4837176"/>
            <a:ext cx="292608" cy="292608"/>
          </a:xfrm>
          <a:prstGeom prst="ellipse">
            <a:avLst/>
          </a:prstGeom>
          <a:solidFill>
            <a:srgbClr val="F26A21"/>
          </a:solidFill>
          <a:ln/>
        </p:spPr>
      </p:sp>
      <p:sp>
        <p:nvSpPr>
          <p:cNvPr id="50" name="Text 48"/>
          <p:cNvSpPr/>
          <p:nvPr/>
        </p:nvSpPr>
        <p:spPr>
          <a:xfrm>
            <a:off x="6629400" y="4654296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8842248" y="4654296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06840" y="4837176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3" name="Text 51"/>
          <p:cNvSpPr/>
          <p:nvPr/>
        </p:nvSpPr>
        <p:spPr>
          <a:xfrm>
            <a:off x="9409176" y="4654296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502920" y="5458968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5F8F5"/>
          </a:solidFill>
          <a:ln w="12700">
            <a:solidFill>
              <a:srgbClr val="D7E3D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7512" y="5641848"/>
            <a:ext cx="292608" cy="292608"/>
          </a:xfrm>
          <a:prstGeom prst="ellipse">
            <a:avLst/>
          </a:prstGeom>
          <a:solidFill>
            <a:srgbClr val="1B7A43"/>
          </a:solidFill>
          <a:ln/>
        </p:spPr>
      </p:sp>
      <p:sp>
        <p:nvSpPr>
          <p:cNvPr id="56" name="Text 54"/>
          <p:cNvSpPr/>
          <p:nvPr/>
        </p:nvSpPr>
        <p:spPr>
          <a:xfrm>
            <a:off x="1069848" y="54589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3776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21208" y="1371600"/>
            <a:ext cx="1828800" cy="0"/>
          </a:xfrm>
          <a:prstGeom prst="line">
            <a:avLst/>
          </a:prstGeom>
          <a:noFill/>
          <a:ln w="31750">
            <a:solidFill>
              <a:srgbClr val="F26A21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64008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Native CLI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&amp; iOS app (no Expo).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&amp; 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website and admin portal.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NestJS microservices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services, clean architecture.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8.4 (spatial)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Per-service DB; spatial types &amp; indexes.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 (MySQL)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access and migrations.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/ Sessions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Caching, sessions, queues, presence.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RabbitMQ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RPC (sync) and events (async).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Chat, notifications, live trips, AI streaming.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Turf.js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corridors &amp; deviation filtering.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Routes, traffic, alternatives.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S3 / MinIO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storage (MinIO for local dev).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/ Google Pay + Saudi gateway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Subscriptions &amp; purchases.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· pnpm · Turborepo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Containers and monorepo tooling.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3776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Access by Role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21208" y="1371600"/>
            <a:ext cx="1828800" cy="0"/>
          </a:xfrm>
          <a:prstGeom prst="line">
            <a:avLst/>
          </a:prstGeom>
          <a:noFill/>
          <a:ln w="31750">
            <a:solidFill>
              <a:srgbClr val="F26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tiered — travelers get what they need for their own trips, while admins and super admins oversee the whole platform.</a:t>
            </a:r>
            <a:endParaRPr lang="en-US" sz="1450" dirty="0"/>
          </a:p>
        </p:txBody>
      </p:sp>
      <p:pic>
        <p:nvPicPr>
          <p:cNvPr id="6" name="Image 0" descr="tg_a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331720"/>
            <a:ext cx="7955280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389120" cy="4389120"/>
          </a:xfrm>
          <a:prstGeom prst="ellipse">
            <a:avLst/>
          </a:prstGeom>
          <a:solidFill>
            <a:srgbClr val="1B7A43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657600" cy="3657600"/>
          </a:xfrm>
          <a:prstGeom prst="ellipse">
            <a:avLst/>
          </a:prstGeom>
          <a:solidFill>
            <a:srgbClr val="F26A21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8096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Rules &amp; Success Metrics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1B7A43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FE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Rules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51560" y="2825496"/>
            <a:ext cx="146304" cy="146304"/>
          </a:xfrm>
          <a:prstGeom prst="ellipse">
            <a:avLst/>
          </a:prstGeom>
          <a:solidFill>
            <a:srgbClr val="F79D5C"/>
          </a:solidFill>
          <a:ln/>
        </p:spPr>
      </p:sp>
      <p:sp>
        <p:nvSpPr>
          <p:cNvPr id="9" name="Text 7"/>
          <p:cNvSpPr/>
          <p:nvPr/>
        </p:nvSpPr>
        <p:spPr>
          <a:xfrm>
            <a:off x="1362456" y="2706624"/>
            <a:ext cx="4352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interests override profile interests.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51560" y="3602736"/>
            <a:ext cx="146304" cy="146304"/>
          </a:xfrm>
          <a:prstGeom prst="ellipse">
            <a:avLst/>
          </a:prstGeom>
          <a:solidFill>
            <a:srgbClr val="F79D5C"/>
          </a:solidFill>
          <a:ln/>
        </p:spPr>
      </p:sp>
      <p:sp>
        <p:nvSpPr>
          <p:cNvPr id="11" name="Text 9"/>
          <p:cNvSpPr/>
          <p:nvPr/>
        </p:nvSpPr>
        <p:spPr>
          <a:xfrm>
            <a:off x="1362456" y="3483864"/>
            <a:ext cx="4352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route change or added stop without confirmation — AI included.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51560" y="4379976"/>
            <a:ext cx="146304" cy="146304"/>
          </a:xfrm>
          <a:prstGeom prst="ellipse">
            <a:avLst/>
          </a:prstGeom>
          <a:solidFill>
            <a:srgbClr val="F79D5C"/>
          </a:solidFill>
          <a:ln/>
        </p:spPr>
      </p:sp>
      <p:sp>
        <p:nvSpPr>
          <p:cNvPr id="13" name="Text 11"/>
          <p:cNvSpPr/>
          <p:nvPr/>
        </p:nvSpPr>
        <p:spPr>
          <a:xfrm>
            <a:off x="1362456" y="4261104"/>
            <a:ext cx="4352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owns its own MySQL database; no cross-DB access.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51560" y="5157216"/>
            <a:ext cx="146304" cy="146304"/>
          </a:xfrm>
          <a:prstGeom prst="ellipse">
            <a:avLst/>
          </a:prstGeom>
          <a:solidFill>
            <a:srgbClr val="F79D5C"/>
          </a:solidFill>
          <a:ln/>
        </p:spPr>
      </p:sp>
      <p:sp>
        <p:nvSpPr>
          <p:cNvPr id="15" name="Text 13"/>
          <p:cNvSpPr/>
          <p:nvPr/>
        </p:nvSpPr>
        <p:spPr>
          <a:xfrm>
            <a:off x="1362456" y="5038344"/>
            <a:ext cx="4352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data has retention limits; access is role-based.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965960"/>
            <a:ext cx="5074920" cy="4023360"/>
          </a:xfrm>
          <a:prstGeom prst="roundRect">
            <a:avLst>
              <a:gd name="adj" fmla="val 2273"/>
            </a:avLst>
          </a:prstGeom>
          <a:solidFill>
            <a:srgbClr val="1B7A43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FE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Metrics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83680" y="2825496"/>
            <a:ext cx="146304" cy="146304"/>
          </a:xfrm>
          <a:prstGeom prst="ellipse">
            <a:avLst/>
          </a:prstGeom>
          <a:solidFill>
            <a:srgbClr val="F79D5C"/>
          </a:solidFill>
          <a:ln/>
        </p:spPr>
      </p:sp>
      <p:sp>
        <p:nvSpPr>
          <p:cNvPr id="19" name="Text 17"/>
          <p:cNvSpPr/>
          <p:nvPr/>
        </p:nvSpPr>
        <p:spPr>
          <a:xfrm>
            <a:off x="6894576" y="2706624"/>
            <a:ext cx="4215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acceptance rate.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0" y="3602736"/>
            <a:ext cx="146304" cy="146304"/>
          </a:xfrm>
          <a:prstGeom prst="ellipse">
            <a:avLst/>
          </a:prstGeom>
          <a:solidFill>
            <a:srgbClr val="F79D5C"/>
          </a:solidFill>
          <a:ln/>
        </p:spPr>
      </p:sp>
      <p:sp>
        <p:nvSpPr>
          <p:cNvPr id="21" name="Text 19"/>
          <p:cNvSpPr/>
          <p:nvPr/>
        </p:nvSpPr>
        <p:spPr>
          <a:xfrm>
            <a:off x="6894576" y="3483864"/>
            <a:ext cx="4215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completed and interests personalized per trip.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4379976"/>
            <a:ext cx="146304" cy="146304"/>
          </a:xfrm>
          <a:prstGeom prst="ellipse">
            <a:avLst/>
          </a:prstGeom>
          <a:solidFill>
            <a:srgbClr val="F79D5C"/>
          </a:solidFill>
          <a:ln/>
        </p:spPr>
      </p:sp>
      <p:sp>
        <p:nvSpPr>
          <p:cNvPr id="23" name="Text 21"/>
          <p:cNvSpPr/>
          <p:nvPr/>
        </p:nvSpPr>
        <p:spPr>
          <a:xfrm>
            <a:off x="6894576" y="4261104"/>
            <a:ext cx="4215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assistant adoption.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3680" y="5157216"/>
            <a:ext cx="146304" cy="146304"/>
          </a:xfrm>
          <a:prstGeom prst="ellipse">
            <a:avLst/>
          </a:prstGeom>
          <a:solidFill>
            <a:srgbClr val="F79D5C"/>
          </a:solidFill>
          <a:ln/>
        </p:spPr>
      </p:sp>
      <p:sp>
        <p:nvSpPr>
          <p:cNvPr id="25" name="Text 23"/>
          <p:cNvSpPr/>
          <p:nvPr/>
        </p:nvSpPr>
        <p:spPr>
          <a:xfrm>
            <a:off x="6894576" y="5038344"/>
            <a:ext cx="4215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promotion &amp; subscription conversion.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2026-08-08T20:43:17Z</dcterms:created>
  <dcterms:modified xsi:type="dcterms:W3CDTF">2026-08-08T20:43:17Z</dcterms:modified>
</cp:coreProperties>
</file>